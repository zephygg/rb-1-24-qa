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ebas Neue Cyrillic" charset="1" panose="02000506000000020004"/>
      <p:regular r:id="rId14"/>
    </p:embeddedFont>
    <p:embeddedFont>
      <p:font typeface="Arimo" charset="1" panose="020B0604020202020204"/>
      <p:regular r:id="rId15"/>
    </p:embeddedFont>
    <p:embeddedFont>
      <p:font typeface="Arimo Bold" charset="1" panose="020B07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14" Target="../media/image33.png" Type="http://schemas.openxmlformats.org/officeDocument/2006/relationships/image"/><Relationship Id="rId15" Target="../media/image34.png" Type="http://schemas.openxmlformats.org/officeDocument/2006/relationships/image"/><Relationship Id="rId16" Target="../media/image35.png" Type="http://schemas.openxmlformats.org/officeDocument/2006/relationships/image"/><Relationship Id="rId17" Target="../media/image36.png" Type="http://schemas.openxmlformats.org/officeDocument/2006/relationships/image"/><Relationship Id="rId18" Target="../media/image37.png" Type="http://schemas.openxmlformats.org/officeDocument/2006/relationships/image"/><Relationship Id="rId19" Target="../media/image38.png" Type="http://schemas.openxmlformats.org/officeDocument/2006/relationships/image"/><Relationship Id="rId2" Target="../media/image21.png" Type="http://schemas.openxmlformats.org/officeDocument/2006/relationships/image"/><Relationship Id="rId20" Target="../media/image39.png" Type="http://schemas.openxmlformats.org/officeDocument/2006/relationships/image"/><Relationship Id="rId21" Target="../media/image40.png" Type="http://schemas.openxmlformats.org/officeDocument/2006/relationships/image"/><Relationship Id="rId22" Target="../media/image41.png" Type="http://schemas.openxmlformats.org/officeDocument/2006/relationships/image"/><Relationship Id="rId23" Target="../media/image42.png" Type="http://schemas.openxmlformats.org/officeDocument/2006/relationships/image"/><Relationship Id="rId24" Target="../media/image43.png" Type="http://schemas.openxmlformats.org/officeDocument/2006/relationships/image"/><Relationship Id="rId25" Target="../media/image44.png" Type="http://schemas.openxmlformats.org/officeDocument/2006/relationships/image"/><Relationship Id="rId26" Target="../media/image45.png" Type="http://schemas.openxmlformats.org/officeDocument/2006/relationships/image"/><Relationship Id="rId27" Target="../media/image46.png" Type="http://schemas.openxmlformats.org/officeDocument/2006/relationships/image"/><Relationship Id="rId28" Target="../media/image47.png" Type="http://schemas.openxmlformats.org/officeDocument/2006/relationships/image"/><Relationship Id="rId29" Target="../media/image48.png" Type="http://schemas.openxmlformats.org/officeDocument/2006/relationships/image"/><Relationship Id="rId3" Target="../media/image22.png" Type="http://schemas.openxmlformats.org/officeDocument/2006/relationships/image"/><Relationship Id="rId30" Target="../media/image49.png" Type="http://schemas.openxmlformats.org/officeDocument/2006/relationships/image"/><Relationship Id="rId31" Target="../media/image50.png" Type="http://schemas.openxmlformats.org/officeDocument/2006/relationships/image"/><Relationship Id="rId32" Target="../media/image51.png" Type="http://schemas.openxmlformats.org/officeDocument/2006/relationships/image"/><Relationship Id="rId33" Target="../media/image52.png" Type="http://schemas.openxmlformats.org/officeDocument/2006/relationships/image"/><Relationship Id="rId34" Target="../media/image53.png" Type="http://schemas.openxmlformats.org/officeDocument/2006/relationships/image"/><Relationship Id="rId35" Target="../media/image54.png" Type="http://schemas.openxmlformats.org/officeDocument/2006/relationships/image"/><Relationship Id="rId36" Target="../media/image55.png" Type="http://schemas.openxmlformats.org/officeDocument/2006/relationships/image"/><Relationship Id="rId37" Target="../media/image56.png" Type="http://schemas.openxmlformats.org/officeDocument/2006/relationships/image"/><Relationship Id="rId38" Target="../media/image57.png" Type="http://schemas.openxmlformats.org/officeDocument/2006/relationships/image"/><Relationship Id="rId39" Target="../media/image58.png" Type="http://schemas.openxmlformats.org/officeDocument/2006/relationships/image"/><Relationship Id="rId4" Target="../media/image23.png" Type="http://schemas.openxmlformats.org/officeDocument/2006/relationships/image"/><Relationship Id="rId40" Target="../media/image59.png" Type="http://schemas.openxmlformats.org/officeDocument/2006/relationships/image"/><Relationship Id="rId41" Target="../media/image60.png" Type="http://schemas.openxmlformats.org/officeDocument/2006/relationships/image"/><Relationship Id="rId42" Target="../media/image61.png" Type="http://schemas.openxmlformats.org/officeDocument/2006/relationships/image"/><Relationship Id="rId43" Target="../media/image62.png" Type="http://schemas.openxmlformats.org/officeDocument/2006/relationships/image"/><Relationship Id="rId44" Target="../media/image63.png" Type="http://schemas.openxmlformats.org/officeDocument/2006/relationships/image"/><Relationship Id="rId45" Target="../media/image64.png" Type="http://schemas.openxmlformats.org/officeDocument/2006/relationships/image"/><Relationship Id="rId46" Target="../media/image65.png" Type="http://schemas.openxmlformats.org/officeDocument/2006/relationships/image"/><Relationship Id="rId47" Target="../media/image66.png" Type="http://schemas.openxmlformats.org/officeDocument/2006/relationships/image"/><Relationship Id="rId48" Target="../media/image67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pn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77.pn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24160"/>
          </a:xfrm>
          <a:custGeom>
            <a:avLst/>
            <a:gdLst/>
            <a:ahLst/>
            <a:cxnLst/>
            <a:rect r="r" b="b" t="t" l="l"/>
            <a:pathLst>
              <a:path h="10424160" w="18288000">
                <a:moveTo>
                  <a:pt x="0" y="0"/>
                </a:moveTo>
                <a:lnTo>
                  <a:pt x="18288000" y="0"/>
                </a:lnTo>
                <a:lnTo>
                  <a:pt x="18288000" y="10424160"/>
                </a:lnTo>
                <a:lnTo>
                  <a:pt x="0" y="10424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237780" cy="10287000"/>
          </a:xfrm>
          <a:custGeom>
            <a:avLst/>
            <a:gdLst/>
            <a:ahLst/>
            <a:cxnLst/>
            <a:rect r="r" b="b" t="t" l="l"/>
            <a:pathLst>
              <a:path h="10287000" w="10237780">
                <a:moveTo>
                  <a:pt x="0" y="0"/>
                </a:moveTo>
                <a:lnTo>
                  <a:pt x="10237780" y="0"/>
                </a:lnTo>
                <a:lnTo>
                  <a:pt x="102377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362756" cy="10287000"/>
          </a:xfrm>
          <a:custGeom>
            <a:avLst/>
            <a:gdLst/>
            <a:ahLst/>
            <a:cxnLst/>
            <a:rect r="r" b="b" t="t" l="l"/>
            <a:pathLst>
              <a:path h="10287000" w="9362756">
                <a:moveTo>
                  <a:pt x="0" y="0"/>
                </a:moveTo>
                <a:lnTo>
                  <a:pt x="9362756" y="0"/>
                </a:lnTo>
                <a:lnTo>
                  <a:pt x="9362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8921" y="1531375"/>
            <a:ext cx="6080595" cy="200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23"/>
              </a:lnSpc>
            </a:pPr>
            <a:r>
              <a:rPr lang="en-US" sz="14152" spc="138">
                <a:solidFill>
                  <a:srgbClr val="073F7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АТЫРАУ –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421712"/>
            <a:ext cx="1968804" cy="229572"/>
          </a:xfrm>
          <a:custGeom>
            <a:avLst/>
            <a:gdLst/>
            <a:ahLst/>
            <a:cxnLst/>
            <a:rect r="r" b="b" t="t" l="l"/>
            <a:pathLst>
              <a:path h="229572" w="1968804">
                <a:moveTo>
                  <a:pt x="0" y="0"/>
                </a:moveTo>
                <a:lnTo>
                  <a:pt x="1968804" y="0"/>
                </a:lnTo>
                <a:lnTo>
                  <a:pt x="1968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56440" y="6428009"/>
            <a:ext cx="3718852" cy="3858991"/>
          </a:xfrm>
          <a:custGeom>
            <a:avLst/>
            <a:gdLst/>
            <a:ahLst/>
            <a:cxnLst/>
            <a:rect r="r" b="b" t="t" l="l"/>
            <a:pathLst>
              <a:path h="3858991" w="3718852">
                <a:moveTo>
                  <a:pt x="0" y="0"/>
                </a:moveTo>
                <a:lnTo>
                  <a:pt x="3718852" y="0"/>
                </a:lnTo>
                <a:lnTo>
                  <a:pt x="3718852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4448" y="3895063"/>
            <a:ext cx="5885665" cy="192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2"/>
              </a:lnSpc>
            </a:pPr>
            <a:r>
              <a:rPr lang="en-US" sz="6938" spc="67">
                <a:solidFill>
                  <a:srgbClr val="073F7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ГОРОД НА СТЫКЕ ДВУХ КОНТИНЕНТОВ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4077" y="6985344"/>
            <a:ext cx="1922786" cy="40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759" spc="26">
                <a:solidFill>
                  <a:srgbClr val="073F7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Мой город: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6795" y="7467291"/>
            <a:ext cx="4650997" cy="40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759" spc="26">
                <a:solidFill>
                  <a:srgbClr val="073F7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чем он интересен туристам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7881" y="8386002"/>
            <a:ext cx="2542412" cy="77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2759" spc="24">
                <a:solidFill>
                  <a:srgbClr val="073F7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Автор и группа</a:t>
            </a:r>
          </a:p>
          <a:p>
            <a:pPr algn="l">
              <a:lnSpc>
                <a:spcPts val="3007"/>
              </a:lnSpc>
            </a:pPr>
            <a:r>
              <a:rPr lang="en-US" sz="2759" spc="26">
                <a:solidFill>
                  <a:srgbClr val="073F7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АРНУР КАМАЙ ПО 1-24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51422" y="9587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73598" y="0"/>
            <a:ext cx="4145426" cy="7717983"/>
          </a:xfrm>
          <a:custGeom>
            <a:avLst/>
            <a:gdLst/>
            <a:ahLst/>
            <a:cxnLst/>
            <a:rect r="r" b="b" t="t" l="l"/>
            <a:pathLst>
              <a:path h="7717983" w="4145426">
                <a:moveTo>
                  <a:pt x="0" y="0"/>
                </a:moveTo>
                <a:lnTo>
                  <a:pt x="4145426" y="0"/>
                </a:lnTo>
                <a:lnTo>
                  <a:pt x="4145426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56440" y="6635716"/>
            <a:ext cx="3500096" cy="3651284"/>
          </a:xfrm>
          <a:custGeom>
            <a:avLst/>
            <a:gdLst/>
            <a:ahLst/>
            <a:cxnLst/>
            <a:rect r="r" b="b" t="t" l="l"/>
            <a:pathLst>
              <a:path h="3651284" w="3500096">
                <a:moveTo>
                  <a:pt x="0" y="0"/>
                </a:moveTo>
                <a:lnTo>
                  <a:pt x="3500096" y="0"/>
                </a:lnTo>
                <a:lnTo>
                  <a:pt x="350009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8515" y="1657163"/>
            <a:ext cx="4910211" cy="171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1"/>
              </a:lnSpc>
            </a:pPr>
            <a:r>
              <a:rPr lang="en-US" sz="12891">
                <a:solidFill>
                  <a:srgbClr val="0B3F6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О ГОРОДЕ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3214004"/>
            <a:ext cx="1750048" cy="218640"/>
          </a:xfrm>
          <a:custGeom>
            <a:avLst/>
            <a:gdLst/>
            <a:ahLst/>
            <a:cxnLst/>
            <a:rect r="r" b="b" t="t" l="l"/>
            <a:pathLst>
              <a:path h="218640" w="1750048">
                <a:moveTo>
                  <a:pt x="0" y="0"/>
                </a:moveTo>
                <a:lnTo>
                  <a:pt x="1750048" y="0"/>
                </a:lnTo>
                <a:lnTo>
                  <a:pt x="1750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47261" y="3896606"/>
            <a:ext cx="4393417" cy="89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B3F6B"/>
                </a:solidFill>
                <a:latin typeface="Arimo"/>
                <a:ea typeface="Arimo"/>
                <a:cs typeface="Arimo"/>
                <a:sym typeface="Arimo"/>
              </a:rPr>
              <a:t>Центр Атырауской области, запад Казахстана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543" y="5086412"/>
            <a:ext cx="4665260" cy="89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B3F6B"/>
                </a:solidFill>
                <a:latin typeface="Arimo"/>
                <a:ea typeface="Arimo"/>
                <a:cs typeface="Arimo"/>
                <a:sym typeface="Arimo"/>
              </a:rPr>
              <a:t>Дельта реки Урал,</a:t>
            </a:r>
          </a:p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B3F6B"/>
                </a:solidFill>
                <a:latin typeface="Arimo"/>
                <a:ea typeface="Arimo"/>
                <a:cs typeface="Arimo"/>
                <a:sym typeface="Arimo"/>
              </a:rPr>
              <a:t>около 20 м ниже уровня моря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082" y="6321401"/>
            <a:ext cx="5111340" cy="89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B3F6B"/>
                </a:solidFill>
                <a:latin typeface="Arimo"/>
                <a:ea typeface="Arimo"/>
                <a:cs typeface="Arimo"/>
                <a:sym typeface="Arimo"/>
              </a:rPr>
              <a:t>До 1991 года назывался Гурьев, статус города с 1885 года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8056" y="7516536"/>
            <a:ext cx="5313937" cy="48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759" b="true">
                <a:solidFill>
                  <a:srgbClr val="0863B2"/>
                </a:solidFill>
                <a:latin typeface="Arimo Bold"/>
                <a:ea typeface="Arimo Bold"/>
                <a:cs typeface="Arimo Bold"/>
                <a:sym typeface="Arimo Bold"/>
              </a:rPr>
              <a:t>Нефтяная</a:t>
            </a:r>
            <a:r>
              <a:rPr lang="en-US" sz="2759">
                <a:solidFill>
                  <a:srgbClr val="0B3F6B"/>
                </a:solidFill>
                <a:latin typeface="Arimo"/>
                <a:ea typeface="Arimo"/>
                <a:cs typeface="Arimo"/>
                <a:sym typeface="Arimo"/>
              </a:rPr>
              <a:t> столица Казахстана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4876" y="8249188"/>
            <a:ext cx="3631894" cy="89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B3F6B"/>
                </a:solidFill>
                <a:latin typeface="Arimo"/>
                <a:ea typeface="Arimo"/>
                <a:cs typeface="Arimo"/>
                <a:sym typeface="Arimo"/>
              </a:rPr>
              <a:t>Река Урал делит город</a:t>
            </a:r>
          </a:p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B3F6B"/>
                </a:solidFill>
                <a:latin typeface="Arimo"/>
                <a:ea typeface="Arimo"/>
                <a:cs typeface="Arimo"/>
                <a:sym typeface="Arimo"/>
              </a:rPr>
              <a:t>на </a:t>
            </a:r>
            <a:r>
              <a:rPr lang="en-US" sz="2575" b="true">
                <a:solidFill>
                  <a:srgbClr val="0863B2"/>
                </a:solidFill>
                <a:latin typeface="Arimo Bold"/>
                <a:ea typeface="Arimo Bold"/>
                <a:cs typeface="Arimo Bold"/>
                <a:sym typeface="Arimo Bold"/>
              </a:rPr>
              <a:t>Европу</a:t>
            </a:r>
            <a:r>
              <a:rPr lang="en-US" sz="2575">
                <a:solidFill>
                  <a:srgbClr val="0B3F6B"/>
                </a:solidFill>
                <a:latin typeface="Arimo"/>
                <a:ea typeface="Arimo"/>
                <a:cs typeface="Arimo"/>
                <a:sym typeface="Arimo"/>
              </a:rPr>
              <a:t> и </a:t>
            </a:r>
            <a:r>
              <a:rPr lang="en-US" sz="2575" b="true">
                <a:solidFill>
                  <a:srgbClr val="0863B2"/>
                </a:solidFill>
                <a:latin typeface="Arimo Bold"/>
                <a:ea typeface="Arimo Bold"/>
                <a:cs typeface="Arimo Bold"/>
                <a:sym typeface="Arimo Bold"/>
              </a:rPr>
              <a:t>Азию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97472" y="10718"/>
            <a:ext cx="16252600" cy="10293313"/>
          </a:xfrm>
          <a:custGeom>
            <a:avLst/>
            <a:gdLst/>
            <a:ahLst/>
            <a:cxnLst/>
            <a:rect r="r" b="b" t="t" l="l"/>
            <a:pathLst>
              <a:path h="10293313" w="16252600">
                <a:moveTo>
                  <a:pt x="0" y="0"/>
                </a:moveTo>
                <a:lnTo>
                  <a:pt x="16252600" y="0"/>
                </a:lnTo>
                <a:lnTo>
                  <a:pt x="16252600" y="10293313"/>
                </a:lnTo>
                <a:lnTo>
                  <a:pt x="0" y="1029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758134" cy="10287000"/>
          </a:xfrm>
          <a:custGeom>
            <a:avLst/>
            <a:gdLst/>
            <a:ahLst/>
            <a:cxnLst/>
            <a:rect r="r" b="b" t="t" l="l"/>
            <a:pathLst>
              <a:path h="10287000" w="11758134">
                <a:moveTo>
                  <a:pt x="0" y="0"/>
                </a:moveTo>
                <a:lnTo>
                  <a:pt x="11758134" y="0"/>
                </a:lnTo>
                <a:lnTo>
                  <a:pt x="11758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93952" y="6209369"/>
            <a:ext cx="3718852" cy="4077631"/>
          </a:xfrm>
          <a:custGeom>
            <a:avLst/>
            <a:gdLst/>
            <a:ahLst/>
            <a:cxnLst/>
            <a:rect r="r" b="b" t="t" l="l"/>
            <a:pathLst>
              <a:path h="4077631" w="3718852">
                <a:moveTo>
                  <a:pt x="0" y="0"/>
                </a:moveTo>
                <a:lnTo>
                  <a:pt x="3718852" y="0"/>
                </a:lnTo>
                <a:lnTo>
                  <a:pt x="3718852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50220" y="6854356"/>
            <a:ext cx="3062584" cy="3432644"/>
          </a:xfrm>
          <a:custGeom>
            <a:avLst/>
            <a:gdLst/>
            <a:ahLst/>
            <a:cxnLst/>
            <a:rect r="r" b="b" t="t" l="l"/>
            <a:pathLst>
              <a:path h="3432644" w="3062584">
                <a:moveTo>
                  <a:pt x="0" y="0"/>
                </a:moveTo>
                <a:lnTo>
                  <a:pt x="3062584" y="0"/>
                </a:lnTo>
                <a:lnTo>
                  <a:pt x="3062584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2995365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8192" y="1712646"/>
            <a:ext cx="8547960" cy="110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spc="-245">
                <a:solidFill>
                  <a:srgbClr val="08437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ДОСТОПРИМЕЧАТЕЛЬНОСТИ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6109" y="3758418"/>
            <a:ext cx="7114135" cy="43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>
                <a:solidFill>
                  <a:srgbClr val="0B5C9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5 мест, которые стоит увидеть туристу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4688" y="4727847"/>
            <a:ext cx="8256221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08437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Мост через реку Урал — граница Европы и Азии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3867" y="5676680"/>
            <a:ext cx="5338306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08437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Памятник Исатаю и Махамбету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618" y="6580331"/>
            <a:ext cx="5463176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08437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Историко-краеведческий музей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7446" y="7483981"/>
            <a:ext cx="3980383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08437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Набережная реки Урал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2945" y="8387632"/>
            <a:ext cx="6430479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>
                <a:solidFill>
                  <a:srgbClr val="084376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Православный и католический храмы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24545" y="0"/>
            <a:ext cx="15549568" cy="10360088"/>
          </a:xfrm>
          <a:custGeom>
            <a:avLst/>
            <a:gdLst/>
            <a:ahLst/>
            <a:cxnLst/>
            <a:rect r="r" b="b" t="t" l="l"/>
            <a:pathLst>
              <a:path h="10360088" w="15549568">
                <a:moveTo>
                  <a:pt x="0" y="0"/>
                </a:moveTo>
                <a:lnTo>
                  <a:pt x="15549568" y="0"/>
                </a:lnTo>
                <a:lnTo>
                  <a:pt x="15549568" y="10360088"/>
                </a:lnTo>
                <a:lnTo>
                  <a:pt x="0" y="10360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12708" y="0"/>
            <a:ext cx="3926670" cy="10287000"/>
          </a:xfrm>
          <a:custGeom>
            <a:avLst/>
            <a:gdLst/>
            <a:ahLst/>
            <a:cxnLst/>
            <a:rect r="r" b="b" t="t" l="l"/>
            <a:pathLst>
              <a:path h="10287000" w="3926670">
                <a:moveTo>
                  <a:pt x="0" y="0"/>
                </a:moveTo>
                <a:lnTo>
                  <a:pt x="3926670" y="0"/>
                </a:lnTo>
                <a:lnTo>
                  <a:pt x="39266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50220" y="0"/>
            <a:ext cx="2843828" cy="10287000"/>
          </a:xfrm>
          <a:custGeom>
            <a:avLst/>
            <a:gdLst/>
            <a:ahLst/>
            <a:cxnLst/>
            <a:rect r="r" b="b" t="t" l="l"/>
            <a:pathLst>
              <a:path h="10287000" w="2843828">
                <a:moveTo>
                  <a:pt x="0" y="0"/>
                </a:moveTo>
                <a:lnTo>
                  <a:pt x="2843828" y="0"/>
                </a:lnTo>
                <a:lnTo>
                  <a:pt x="28438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0237780" cy="10287000"/>
          </a:xfrm>
          <a:custGeom>
            <a:avLst/>
            <a:gdLst/>
            <a:ahLst/>
            <a:cxnLst/>
            <a:rect r="r" b="b" t="t" l="l"/>
            <a:pathLst>
              <a:path h="10287000" w="10237780">
                <a:moveTo>
                  <a:pt x="0" y="0"/>
                </a:moveTo>
                <a:lnTo>
                  <a:pt x="10237780" y="0"/>
                </a:lnTo>
                <a:lnTo>
                  <a:pt x="102377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4086" y="4066699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6895" y="1246013"/>
            <a:ext cx="6751165" cy="262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0"/>
              </a:lnSpc>
            </a:pPr>
            <a:r>
              <a:rPr lang="en-US" sz="10436">
                <a:solidFill>
                  <a:srgbClr val="0B4174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КАК ДОБРАТЬСЯ И КОГДА ЕХАТЬ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7917" y="4659562"/>
            <a:ext cx="5648972" cy="4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0B4174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Международный аэропорт Атырау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6714" y="5412605"/>
            <a:ext cx="3769184" cy="916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0B4174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Центр города: пешком,</a:t>
            </a:r>
          </a:p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0B4174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на автобусе или такси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0322" y="6647593"/>
            <a:ext cx="4408417" cy="916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0B4174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Лучшее время: май,</a:t>
            </a:r>
          </a:p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0B4174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конец лета и начало осени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1491" y="7912704"/>
            <a:ext cx="3291559" cy="916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0B4174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Адреса и маршруты</a:t>
            </a:r>
          </a:p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0B4174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проверять в 2ГИС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4364182" cy="10287000"/>
          </a:xfrm>
          <a:custGeom>
            <a:avLst/>
            <a:gdLst/>
            <a:ahLst/>
            <a:cxnLst/>
            <a:rect r="r" b="b" t="t" l="l"/>
            <a:pathLst>
              <a:path h="10287000" w="4364182">
                <a:moveTo>
                  <a:pt x="0" y="0"/>
                </a:moveTo>
                <a:lnTo>
                  <a:pt x="4364182" y="0"/>
                </a:lnTo>
                <a:lnTo>
                  <a:pt x="4364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2414402" cy="10287000"/>
          </a:xfrm>
          <a:custGeom>
            <a:avLst/>
            <a:gdLst/>
            <a:ahLst/>
            <a:cxnLst/>
            <a:rect r="r" b="b" t="t" l="l"/>
            <a:pathLst>
              <a:path h="10287000" w="12414402">
                <a:moveTo>
                  <a:pt x="0" y="0"/>
                </a:moveTo>
                <a:lnTo>
                  <a:pt x="12414402" y="0"/>
                </a:lnTo>
                <a:lnTo>
                  <a:pt x="12414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9548" y="945258"/>
            <a:ext cx="4054616" cy="1561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70"/>
              </a:lnSpc>
            </a:pPr>
            <a:r>
              <a:rPr lang="en-US" sz="11770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КЛИМАТ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2350377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4949" y="3174046"/>
            <a:ext cx="6872332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Средняя температура воздуха по месяцам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1131" y="5363738"/>
            <a:ext cx="254120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20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82842" y="4285339"/>
            <a:ext cx="448450" cy="3651284"/>
          </a:xfrm>
          <a:custGeom>
            <a:avLst/>
            <a:gdLst/>
            <a:ahLst/>
            <a:cxnLst/>
            <a:rect r="r" b="b" t="t" l="l"/>
            <a:pathLst>
              <a:path h="3651284" w="448450">
                <a:moveTo>
                  <a:pt x="0" y="0"/>
                </a:moveTo>
                <a:lnTo>
                  <a:pt x="448450" y="0"/>
                </a:lnTo>
                <a:lnTo>
                  <a:pt x="44845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2842" y="4285339"/>
            <a:ext cx="9811206" cy="218640"/>
          </a:xfrm>
          <a:custGeom>
            <a:avLst/>
            <a:gdLst/>
            <a:ahLst/>
            <a:cxnLst/>
            <a:rect r="r" b="b" t="t" l="l"/>
            <a:pathLst>
              <a:path h="218640" w="9811206">
                <a:moveTo>
                  <a:pt x="0" y="0"/>
                </a:moveTo>
                <a:lnTo>
                  <a:pt x="9811206" y="0"/>
                </a:lnTo>
                <a:lnTo>
                  <a:pt x="981120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2842" y="4711687"/>
            <a:ext cx="9811206" cy="218640"/>
          </a:xfrm>
          <a:custGeom>
            <a:avLst/>
            <a:gdLst/>
            <a:ahLst/>
            <a:cxnLst/>
            <a:rect r="r" b="b" t="t" l="l"/>
            <a:pathLst>
              <a:path h="218640" w="9811206">
                <a:moveTo>
                  <a:pt x="0" y="0"/>
                </a:moveTo>
                <a:lnTo>
                  <a:pt x="9811206" y="0"/>
                </a:lnTo>
                <a:lnTo>
                  <a:pt x="981120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2842" y="5356674"/>
            <a:ext cx="9811206" cy="218640"/>
          </a:xfrm>
          <a:custGeom>
            <a:avLst/>
            <a:gdLst/>
            <a:ahLst/>
            <a:cxnLst/>
            <a:rect r="r" b="b" t="t" l="l"/>
            <a:pathLst>
              <a:path h="218640" w="9811206">
                <a:moveTo>
                  <a:pt x="0" y="0"/>
                </a:moveTo>
                <a:lnTo>
                  <a:pt x="9811206" y="0"/>
                </a:lnTo>
                <a:lnTo>
                  <a:pt x="981120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2842" y="5990729"/>
            <a:ext cx="9811206" cy="229572"/>
          </a:xfrm>
          <a:custGeom>
            <a:avLst/>
            <a:gdLst/>
            <a:ahLst/>
            <a:cxnLst/>
            <a:rect r="r" b="b" t="t" l="l"/>
            <a:pathLst>
              <a:path h="229572" w="9811206">
                <a:moveTo>
                  <a:pt x="0" y="0"/>
                </a:moveTo>
                <a:lnTo>
                  <a:pt x="9811206" y="0"/>
                </a:lnTo>
                <a:lnTo>
                  <a:pt x="9811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2842" y="6428009"/>
            <a:ext cx="9811206" cy="218640"/>
          </a:xfrm>
          <a:custGeom>
            <a:avLst/>
            <a:gdLst/>
            <a:ahLst/>
            <a:cxnLst/>
            <a:rect r="r" b="b" t="t" l="l"/>
            <a:pathLst>
              <a:path h="218640" w="9811206">
                <a:moveTo>
                  <a:pt x="0" y="0"/>
                </a:moveTo>
                <a:lnTo>
                  <a:pt x="9811206" y="0"/>
                </a:lnTo>
                <a:lnTo>
                  <a:pt x="981120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2842" y="7062064"/>
            <a:ext cx="9811206" cy="229572"/>
          </a:xfrm>
          <a:custGeom>
            <a:avLst/>
            <a:gdLst/>
            <a:ahLst/>
            <a:cxnLst/>
            <a:rect r="r" b="b" t="t" l="l"/>
            <a:pathLst>
              <a:path h="229572" w="9811206">
                <a:moveTo>
                  <a:pt x="0" y="0"/>
                </a:moveTo>
                <a:lnTo>
                  <a:pt x="9811206" y="0"/>
                </a:lnTo>
                <a:lnTo>
                  <a:pt x="981120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2842" y="7707051"/>
            <a:ext cx="9811206" cy="229572"/>
          </a:xfrm>
          <a:custGeom>
            <a:avLst/>
            <a:gdLst/>
            <a:ahLst/>
            <a:cxnLst/>
            <a:rect r="r" b="b" t="t" l="l"/>
            <a:pathLst>
              <a:path h="229572" w="9811206">
                <a:moveTo>
                  <a:pt x="0" y="0"/>
                </a:moveTo>
                <a:lnTo>
                  <a:pt x="9811206" y="0"/>
                </a:lnTo>
                <a:lnTo>
                  <a:pt x="9811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20354" y="4493047"/>
            <a:ext cx="9373694" cy="2798589"/>
          </a:xfrm>
          <a:custGeom>
            <a:avLst/>
            <a:gdLst/>
            <a:ahLst/>
            <a:cxnLst/>
            <a:rect r="r" b="b" t="t" l="l"/>
            <a:pathLst>
              <a:path h="2798589" w="9373694">
                <a:moveTo>
                  <a:pt x="0" y="0"/>
                </a:moveTo>
                <a:lnTo>
                  <a:pt x="9373694" y="0"/>
                </a:lnTo>
                <a:lnTo>
                  <a:pt x="9373694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20354" y="5356674"/>
            <a:ext cx="9373694" cy="2361309"/>
          </a:xfrm>
          <a:custGeom>
            <a:avLst/>
            <a:gdLst/>
            <a:ahLst/>
            <a:cxnLst/>
            <a:rect r="r" b="b" t="t" l="l"/>
            <a:pathLst>
              <a:path h="2361309" w="9373694">
                <a:moveTo>
                  <a:pt x="0" y="0"/>
                </a:moveTo>
                <a:lnTo>
                  <a:pt x="9373694" y="0"/>
                </a:lnTo>
                <a:lnTo>
                  <a:pt x="937369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040708" y="6209369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040708" y="6635716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040708" y="7062064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915732" y="5564382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15732" y="5990729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915732" y="6428009"/>
            <a:ext cx="448450" cy="218640"/>
          </a:xfrm>
          <a:custGeom>
            <a:avLst/>
            <a:gdLst/>
            <a:ahLst/>
            <a:cxnLst/>
            <a:rect r="r" b="b" t="t" l="l"/>
            <a:pathLst>
              <a:path h="218640" w="448450">
                <a:moveTo>
                  <a:pt x="0" y="0"/>
                </a:moveTo>
                <a:lnTo>
                  <a:pt x="448450" y="0"/>
                </a:lnTo>
                <a:lnTo>
                  <a:pt x="44845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779818" y="4919394"/>
            <a:ext cx="229694" cy="448211"/>
          </a:xfrm>
          <a:custGeom>
            <a:avLst/>
            <a:gdLst/>
            <a:ahLst/>
            <a:cxnLst/>
            <a:rect r="r" b="b" t="t" l="l"/>
            <a:pathLst>
              <a:path h="448211" w="229694">
                <a:moveTo>
                  <a:pt x="0" y="0"/>
                </a:moveTo>
                <a:lnTo>
                  <a:pt x="229694" y="0"/>
                </a:lnTo>
                <a:lnTo>
                  <a:pt x="22969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779818" y="5356674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779818" y="5990729"/>
            <a:ext cx="229694" cy="229572"/>
          </a:xfrm>
          <a:custGeom>
            <a:avLst/>
            <a:gdLst/>
            <a:ahLst/>
            <a:cxnLst/>
            <a:rect r="r" b="b" t="t" l="l"/>
            <a:pathLst>
              <a:path h="229572" w="229694">
                <a:moveTo>
                  <a:pt x="0" y="0"/>
                </a:moveTo>
                <a:lnTo>
                  <a:pt x="229694" y="0"/>
                </a:lnTo>
                <a:lnTo>
                  <a:pt x="2296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654842" y="4493047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654842" y="5138034"/>
            <a:ext cx="229694" cy="229572"/>
          </a:xfrm>
          <a:custGeom>
            <a:avLst/>
            <a:gdLst/>
            <a:ahLst/>
            <a:cxnLst/>
            <a:rect r="r" b="b" t="t" l="l"/>
            <a:pathLst>
              <a:path h="229572" w="229694">
                <a:moveTo>
                  <a:pt x="0" y="0"/>
                </a:moveTo>
                <a:lnTo>
                  <a:pt x="229694" y="0"/>
                </a:lnTo>
                <a:lnTo>
                  <a:pt x="2296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654842" y="5564382"/>
            <a:ext cx="229694" cy="229572"/>
          </a:xfrm>
          <a:custGeom>
            <a:avLst/>
            <a:gdLst/>
            <a:ahLst/>
            <a:cxnLst/>
            <a:rect r="r" b="b" t="t" l="l"/>
            <a:pathLst>
              <a:path h="229572" w="229694">
                <a:moveTo>
                  <a:pt x="0" y="0"/>
                </a:moveTo>
                <a:lnTo>
                  <a:pt x="229694" y="0"/>
                </a:lnTo>
                <a:lnTo>
                  <a:pt x="229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311110" y="4493047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311110" y="4919394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311110" y="5356674"/>
            <a:ext cx="448450" cy="218640"/>
          </a:xfrm>
          <a:custGeom>
            <a:avLst/>
            <a:gdLst/>
            <a:ahLst/>
            <a:cxnLst/>
            <a:rect r="r" b="b" t="t" l="l"/>
            <a:pathLst>
              <a:path h="218640" w="448450">
                <a:moveTo>
                  <a:pt x="0" y="0"/>
                </a:moveTo>
                <a:lnTo>
                  <a:pt x="448450" y="0"/>
                </a:lnTo>
                <a:lnTo>
                  <a:pt x="44845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175196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175196" y="4919394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175196" y="535667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050220" y="4919394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050220" y="535667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050220" y="5990729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8925244" y="5564382"/>
            <a:ext cx="218756" cy="437279"/>
          </a:xfrm>
          <a:custGeom>
            <a:avLst/>
            <a:gdLst/>
            <a:ahLst/>
            <a:cxnLst/>
            <a:rect r="r" b="b" t="t" l="l"/>
            <a:pathLst>
              <a:path h="437279" w="218756">
                <a:moveTo>
                  <a:pt x="0" y="0"/>
                </a:moveTo>
                <a:lnTo>
                  <a:pt x="218756" y="0"/>
                </a:lnTo>
                <a:lnTo>
                  <a:pt x="21875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8925244" y="5990729"/>
            <a:ext cx="218756" cy="448211"/>
          </a:xfrm>
          <a:custGeom>
            <a:avLst/>
            <a:gdLst/>
            <a:ahLst/>
            <a:cxnLst/>
            <a:rect r="r" b="b" t="t" l="l"/>
            <a:pathLst>
              <a:path h="448211" w="218756">
                <a:moveTo>
                  <a:pt x="0" y="0"/>
                </a:moveTo>
                <a:lnTo>
                  <a:pt x="218756" y="0"/>
                </a:lnTo>
                <a:lnTo>
                  <a:pt x="21875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8925244" y="6428009"/>
            <a:ext cx="218756" cy="437279"/>
          </a:xfrm>
          <a:custGeom>
            <a:avLst/>
            <a:gdLst/>
            <a:ahLst/>
            <a:cxnLst/>
            <a:rect r="r" b="b" t="t" l="l"/>
            <a:pathLst>
              <a:path h="437279" w="218756">
                <a:moveTo>
                  <a:pt x="0" y="0"/>
                </a:moveTo>
                <a:lnTo>
                  <a:pt x="218756" y="0"/>
                </a:lnTo>
                <a:lnTo>
                  <a:pt x="21875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789330" y="6209369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9789330" y="6635716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789330" y="7062064"/>
            <a:ext cx="229694" cy="229572"/>
          </a:xfrm>
          <a:custGeom>
            <a:avLst/>
            <a:gdLst/>
            <a:ahLst/>
            <a:cxnLst/>
            <a:rect r="r" b="b" t="t" l="l"/>
            <a:pathLst>
              <a:path h="229572" w="229694">
                <a:moveTo>
                  <a:pt x="0" y="0"/>
                </a:moveTo>
                <a:lnTo>
                  <a:pt x="229694" y="0"/>
                </a:lnTo>
                <a:lnTo>
                  <a:pt x="229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0445598" y="6854356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082842" y="9423373"/>
            <a:ext cx="885962" cy="229572"/>
          </a:xfrm>
          <a:custGeom>
            <a:avLst/>
            <a:gdLst/>
            <a:ahLst/>
            <a:cxnLst/>
            <a:rect r="r" b="b" t="t" l="l"/>
            <a:pathLst>
              <a:path h="229572" w="885962">
                <a:moveTo>
                  <a:pt x="0" y="0"/>
                </a:moveTo>
                <a:lnTo>
                  <a:pt x="885962" y="0"/>
                </a:lnTo>
                <a:lnTo>
                  <a:pt x="88596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882620" y="9428648"/>
            <a:ext cx="1940318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Средний максимум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4134488" y="9423373"/>
            <a:ext cx="656268" cy="229572"/>
          </a:xfrm>
          <a:custGeom>
            <a:avLst/>
            <a:gdLst/>
            <a:ahLst/>
            <a:cxnLst/>
            <a:rect r="r" b="b" t="t" l="l"/>
            <a:pathLst>
              <a:path h="229572" w="656268">
                <a:moveTo>
                  <a:pt x="0" y="0"/>
                </a:moveTo>
                <a:lnTo>
                  <a:pt x="656268" y="0"/>
                </a:lnTo>
                <a:lnTo>
                  <a:pt x="65626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4907137" y="9428648"/>
            <a:ext cx="2205082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Средняя температура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7612708" y="9423373"/>
            <a:ext cx="667206" cy="229572"/>
          </a:xfrm>
          <a:custGeom>
            <a:avLst/>
            <a:gdLst/>
            <a:ahLst/>
            <a:cxnLst/>
            <a:rect r="r" b="b" t="t" l="l"/>
            <a:pathLst>
              <a:path h="229572" w="667206">
                <a:moveTo>
                  <a:pt x="0" y="0"/>
                </a:moveTo>
                <a:lnTo>
                  <a:pt x="667206" y="0"/>
                </a:lnTo>
                <a:lnTo>
                  <a:pt x="667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8259360" y="9428648"/>
            <a:ext cx="1846035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Средний минимум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083344" y="1613589"/>
            <a:ext cx="2568733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Самый жаркий месяц —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099687" y="1969290"/>
            <a:ext cx="934416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>
                <a:solidFill>
                  <a:srgbClr val="0766C4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июль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094526" y="2988717"/>
            <a:ext cx="1450535" cy="94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>
                <a:solidFill>
                  <a:srgbClr val="FA8C41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29 °C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15017598" y="3848060"/>
            <a:ext cx="1531292" cy="448211"/>
          </a:xfrm>
          <a:custGeom>
            <a:avLst/>
            <a:gdLst/>
            <a:ahLst/>
            <a:cxnLst/>
            <a:rect r="r" b="b" t="t" l="l"/>
            <a:pathLst>
              <a:path h="448211" w="1531292">
                <a:moveTo>
                  <a:pt x="0" y="0"/>
                </a:moveTo>
                <a:lnTo>
                  <a:pt x="1531292" y="0"/>
                </a:lnTo>
                <a:lnTo>
                  <a:pt x="153129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5088123" y="4610696"/>
            <a:ext cx="2090864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Самый холодный —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096394" y="4996519"/>
            <a:ext cx="1263739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>
                <a:solidFill>
                  <a:srgbClr val="0766C4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январь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085592" y="5529407"/>
            <a:ext cx="2343892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средняя температура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095380" y="6006338"/>
            <a:ext cx="1365119" cy="830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7"/>
              </a:lnSpc>
            </a:pPr>
            <a:r>
              <a:rPr lang="en-US" sz="6287">
                <a:solidFill>
                  <a:srgbClr val="5DA3E1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–6 °C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5017598" y="6854356"/>
            <a:ext cx="1531292" cy="218640"/>
          </a:xfrm>
          <a:custGeom>
            <a:avLst/>
            <a:gdLst/>
            <a:ahLst/>
            <a:cxnLst/>
            <a:rect r="r" b="b" t="t" l="l"/>
            <a:pathLst>
              <a:path h="218640" w="1531292">
                <a:moveTo>
                  <a:pt x="0" y="0"/>
                </a:moveTo>
                <a:lnTo>
                  <a:pt x="1531292" y="0"/>
                </a:lnTo>
                <a:lnTo>
                  <a:pt x="153129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5087327" y="7462508"/>
            <a:ext cx="2170404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Солнечных часов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101008" y="7884211"/>
            <a:ext cx="802333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за год: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094312" y="8395559"/>
            <a:ext cx="1471907" cy="94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>
                <a:solidFill>
                  <a:srgbClr val="0766C4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2598</a:t>
            </a:r>
          </a:p>
        </p:txBody>
      </p:sp>
      <p:sp>
        <p:nvSpPr>
          <p:cNvPr name="TextBox 65" id="65"/>
          <p:cNvSpPr txBox="true"/>
          <p:nvPr/>
        </p:nvSpPr>
        <p:spPr>
          <a:xfrm rot="-2457421">
            <a:off x="7455728" y="8236861"/>
            <a:ext cx="1020414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Сентябрь</a:t>
            </a:r>
          </a:p>
        </p:txBody>
      </p:sp>
      <p:sp>
        <p:nvSpPr>
          <p:cNvPr name="TextBox 66" id="66"/>
          <p:cNvSpPr txBox="true"/>
          <p:nvPr/>
        </p:nvSpPr>
        <p:spPr>
          <a:xfrm rot="-2457421">
            <a:off x="10006691" y="8191678"/>
            <a:ext cx="925364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Декабрь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085592" y="2502178"/>
            <a:ext cx="2343892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средняя температура</a:t>
            </a:r>
          </a:p>
        </p:txBody>
      </p:sp>
      <p:sp>
        <p:nvSpPr>
          <p:cNvPr name="TextBox 68" id="68"/>
          <p:cNvSpPr txBox="true"/>
          <p:nvPr/>
        </p:nvSpPr>
        <p:spPr>
          <a:xfrm rot="-2457421">
            <a:off x="1834892" y="8191678"/>
            <a:ext cx="931919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Февраль</a:t>
            </a:r>
          </a:p>
        </p:txBody>
      </p:sp>
      <p:sp>
        <p:nvSpPr>
          <p:cNvPr name="TextBox 69" id="69"/>
          <p:cNvSpPr txBox="true"/>
          <p:nvPr/>
        </p:nvSpPr>
        <p:spPr>
          <a:xfrm rot="-2457421">
            <a:off x="8456711" y="8191678"/>
            <a:ext cx="893681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Октябрь</a:t>
            </a:r>
          </a:p>
        </p:txBody>
      </p:sp>
      <p:sp>
        <p:nvSpPr>
          <p:cNvPr name="TextBox 70" id="70"/>
          <p:cNvSpPr txBox="true"/>
          <p:nvPr/>
        </p:nvSpPr>
        <p:spPr>
          <a:xfrm rot="-2457421">
            <a:off x="9308454" y="8191678"/>
            <a:ext cx="797540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Ноябрь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86281" y="3812472"/>
            <a:ext cx="1739073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Температура, °C</a:t>
            </a:r>
          </a:p>
        </p:txBody>
      </p:sp>
      <p:sp>
        <p:nvSpPr>
          <p:cNvPr name="TextBox 72" id="72"/>
          <p:cNvSpPr txBox="true"/>
          <p:nvPr/>
        </p:nvSpPr>
        <p:spPr>
          <a:xfrm rot="-2457421">
            <a:off x="3544716" y="8131435"/>
            <a:ext cx="782681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Апрель</a:t>
            </a:r>
          </a:p>
        </p:txBody>
      </p:sp>
      <p:sp>
        <p:nvSpPr>
          <p:cNvPr name="TextBox 73" id="73"/>
          <p:cNvSpPr txBox="true"/>
          <p:nvPr/>
        </p:nvSpPr>
        <p:spPr>
          <a:xfrm rot="-2457421">
            <a:off x="1140255" y="8131435"/>
            <a:ext cx="769571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Январь</a:t>
            </a:r>
          </a:p>
        </p:txBody>
      </p:sp>
      <p:sp>
        <p:nvSpPr>
          <p:cNvPr name="TextBox 74" id="74"/>
          <p:cNvSpPr txBox="true"/>
          <p:nvPr/>
        </p:nvSpPr>
        <p:spPr>
          <a:xfrm rot="-2457421">
            <a:off x="6727592" y="8131435"/>
            <a:ext cx="708608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Август</a:t>
            </a:r>
          </a:p>
        </p:txBody>
      </p:sp>
      <p:sp>
        <p:nvSpPr>
          <p:cNvPr name="TextBox 75" id="75"/>
          <p:cNvSpPr txBox="true"/>
          <p:nvPr/>
        </p:nvSpPr>
        <p:spPr>
          <a:xfrm rot="-2457421">
            <a:off x="5357105" y="8131435"/>
            <a:ext cx="586902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Июнь</a:t>
            </a:r>
          </a:p>
        </p:txBody>
      </p:sp>
      <p:sp>
        <p:nvSpPr>
          <p:cNvPr name="TextBox 76" id="76"/>
          <p:cNvSpPr txBox="true"/>
          <p:nvPr/>
        </p:nvSpPr>
        <p:spPr>
          <a:xfrm rot="-2457421">
            <a:off x="6188659" y="8131435"/>
            <a:ext cx="584717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Июль</a:t>
            </a:r>
          </a:p>
        </p:txBody>
      </p:sp>
      <p:sp>
        <p:nvSpPr>
          <p:cNvPr name="TextBox 77" id="77"/>
          <p:cNvSpPr txBox="true"/>
          <p:nvPr/>
        </p:nvSpPr>
        <p:spPr>
          <a:xfrm rot="-2457421">
            <a:off x="2880362" y="8086252"/>
            <a:ext cx="557622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Март</a:t>
            </a:r>
          </a:p>
        </p:txBody>
      </p:sp>
      <p:sp>
        <p:nvSpPr>
          <p:cNvPr name="TextBox 78" id="78"/>
          <p:cNvSpPr txBox="true"/>
          <p:nvPr/>
        </p:nvSpPr>
        <p:spPr>
          <a:xfrm rot="-2457421">
            <a:off x="4624010" y="8086252"/>
            <a:ext cx="445748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Май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591992" y="8797610"/>
            <a:ext cx="692221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Месяц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00993" y="7055678"/>
            <a:ext cx="267864" cy="175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-10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800993" y="7627133"/>
            <a:ext cx="267882" cy="175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-20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801098" y="4234175"/>
            <a:ext cx="257398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40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801131" y="4806487"/>
            <a:ext cx="254120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30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01301" y="5920989"/>
            <a:ext cx="237077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10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36276" y="6493301"/>
            <a:ext cx="134161" cy="20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>
                <a:solidFill>
                  <a:srgbClr val="0B457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87946" y="2500834"/>
            <a:ext cx="7256054" cy="520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9"/>
              </a:lnSpc>
            </a:pPr>
            <a:r>
              <a:rPr lang="en-US" sz="19999">
                <a:solidFill>
                  <a:srgbClr val="084577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АФИША</a:t>
            </a:r>
          </a:p>
          <a:p>
            <a:pPr algn="l">
              <a:lnSpc>
                <a:spcPts val="19999"/>
              </a:lnSpc>
            </a:pPr>
            <a:r>
              <a:rPr lang="en-US" sz="19999">
                <a:solidFill>
                  <a:srgbClr val="084577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АТЫРАУ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874332" y="357205"/>
            <a:ext cx="6766625" cy="9572590"/>
          </a:xfrm>
          <a:custGeom>
            <a:avLst/>
            <a:gdLst/>
            <a:ahLst/>
            <a:cxnLst/>
            <a:rect r="r" b="b" t="t" l="l"/>
            <a:pathLst>
              <a:path h="9572590" w="6766625">
                <a:moveTo>
                  <a:pt x="0" y="0"/>
                </a:moveTo>
                <a:lnTo>
                  <a:pt x="6766624" y="0"/>
                </a:lnTo>
                <a:lnTo>
                  <a:pt x="6766624" y="9572590"/>
                </a:lnTo>
                <a:lnTo>
                  <a:pt x="0" y="9572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2000" y="0"/>
            <a:ext cx="13716000" cy="10287000"/>
          </a:xfrm>
          <a:custGeom>
            <a:avLst/>
            <a:gdLst/>
            <a:ahLst/>
            <a:cxnLst/>
            <a:rect r="r" b="b" t="t" l="l"/>
            <a:pathLst>
              <a:path h="10287000" w="13716000">
                <a:moveTo>
                  <a:pt x="0" y="0"/>
                </a:moveTo>
                <a:lnTo>
                  <a:pt x="13716000" y="0"/>
                </a:lnTo>
                <a:lnTo>
                  <a:pt x="13716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019024" cy="10287000"/>
          </a:xfrm>
          <a:custGeom>
            <a:avLst/>
            <a:gdLst/>
            <a:ahLst/>
            <a:cxnLst/>
            <a:rect r="r" b="b" t="t" l="l"/>
            <a:pathLst>
              <a:path h="10287000" w="10019024">
                <a:moveTo>
                  <a:pt x="0" y="0"/>
                </a:moveTo>
                <a:lnTo>
                  <a:pt x="10019024" y="0"/>
                </a:lnTo>
                <a:lnTo>
                  <a:pt x="100190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56440" y="6635716"/>
            <a:ext cx="3500096" cy="3651284"/>
          </a:xfrm>
          <a:custGeom>
            <a:avLst/>
            <a:gdLst/>
            <a:ahLst/>
            <a:cxnLst/>
            <a:rect r="r" b="b" t="t" l="l"/>
            <a:pathLst>
              <a:path h="3651284" w="3500096">
                <a:moveTo>
                  <a:pt x="0" y="0"/>
                </a:moveTo>
                <a:lnTo>
                  <a:pt x="3500096" y="0"/>
                </a:lnTo>
                <a:lnTo>
                  <a:pt x="350009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92354" y="0"/>
            <a:ext cx="3926670" cy="7936623"/>
          </a:xfrm>
          <a:custGeom>
            <a:avLst/>
            <a:gdLst/>
            <a:ahLst/>
            <a:cxnLst/>
            <a:rect r="r" b="b" t="t" l="l"/>
            <a:pathLst>
              <a:path h="7936623" w="3926670">
                <a:moveTo>
                  <a:pt x="0" y="0"/>
                </a:moveTo>
                <a:lnTo>
                  <a:pt x="3926670" y="0"/>
                </a:lnTo>
                <a:lnTo>
                  <a:pt x="3926670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6463" y="1636608"/>
            <a:ext cx="4078665" cy="183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31"/>
              </a:lnSpc>
            </a:pPr>
            <a:r>
              <a:rPr lang="en-US" sz="13731">
                <a:solidFill>
                  <a:srgbClr val="074172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ВЫВОД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4086" y="3421712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5336" y="4055585"/>
            <a:ext cx="5870267" cy="118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7"/>
              </a:lnSpc>
            </a:pPr>
            <a:r>
              <a:rPr lang="en-US" sz="3805">
                <a:solidFill>
                  <a:srgbClr val="074172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Атырау</a:t>
            </a:r>
            <a:r>
              <a:rPr lang="en-US" sz="3805">
                <a:solidFill>
                  <a:srgbClr val="074172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— город, </a:t>
            </a:r>
          </a:p>
          <a:p>
            <a:pPr algn="l">
              <a:lnSpc>
                <a:spcPts val="4757"/>
              </a:lnSpc>
            </a:pPr>
            <a:r>
              <a:rPr lang="en-US" sz="3805">
                <a:solidFill>
                  <a:srgbClr val="074172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который </a:t>
            </a:r>
            <a:r>
              <a:rPr lang="en-US" sz="3805">
                <a:solidFill>
                  <a:srgbClr val="076BC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стоит посетить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9618" y="5682072"/>
            <a:ext cx="4442090" cy="83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654">
                <a:solidFill>
                  <a:srgbClr val="074172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Уникальное положение </a:t>
            </a:r>
          </a:p>
          <a:p>
            <a:pPr algn="l">
              <a:lnSpc>
                <a:spcPts val="3317"/>
              </a:lnSpc>
            </a:pPr>
            <a:r>
              <a:rPr lang="en-US" sz="2654">
                <a:solidFill>
                  <a:srgbClr val="074172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на границе Европы и Азии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2327" y="6902000"/>
            <a:ext cx="5171247" cy="83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654">
                <a:solidFill>
                  <a:srgbClr val="074172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Река, история и современный </a:t>
            </a:r>
          </a:p>
          <a:p>
            <a:pPr algn="l">
              <a:lnSpc>
                <a:spcPts val="3317"/>
              </a:lnSpc>
            </a:pPr>
            <a:r>
              <a:rPr lang="en-US" sz="2654">
                <a:solidFill>
                  <a:srgbClr val="074172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город рядом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2932" y="8121928"/>
            <a:ext cx="5110746" cy="83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654">
                <a:solidFill>
                  <a:srgbClr val="074172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Лучшее время для поездки — </a:t>
            </a:r>
          </a:p>
          <a:p>
            <a:pPr algn="l">
              <a:lnSpc>
                <a:spcPts val="3317"/>
              </a:lnSpc>
            </a:pPr>
            <a:r>
              <a:rPr lang="en-US" sz="2654">
                <a:solidFill>
                  <a:srgbClr val="074172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весна и начало осени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59931" y="0"/>
            <a:ext cx="15103647" cy="10969024"/>
          </a:xfrm>
          <a:custGeom>
            <a:avLst/>
            <a:gdLst/>
            <a:ahLst/>
            <a:cxnLst/>
            <a:rect r="r" b="b" t="t" l="l"/>
            <a:pathLst>
              <a:path h="10969024" w="15103647">
                <a:moveTo>
                  <a:pt x="0" y="0"/>
                </a:moveTo>
                <a:lnTo>
                  <a:pt x="15103647" y="0"/>
                </a:lnTo>
                <a:lnTo>
                  <a:pt x="15103647" y="10969024"/>
                </a:lnTo>
                <a:lnTo>
                  <a:pt x="0" y="10969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1800000">
            <a:off x="1141310" y="4142081"/>
            <a:ext cx="8231071" cy="7452065"/>
            <a:chOff x="0" y="0"/>
            <a:chExt cx="2167854" cy="19626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7854" cy="1962684"/>
            </a:xfrm>
            <a:custGeom>
              <a:avLst/>
              <a:gdLst/>
              <a:ahLst/>
              <a:cxnLst/>
              <a:rect r="r" b="b" t="t" l="l"/>
              <a:pathLst>
                <a:path h="1962684" w="2167854">
                  <a:moveTo>
                    <a:pt x="0" y="0"/>
                  </a:moveTo>
                  <a:lnTo>
                    <a:pt x="2167854" y="0"/>
                  </a:lnTo>
                  <a:lnTo>
                    <a:pt x="2167854" y="1962684"/>
                  </a:lnTo>
                  <a:lnTo>
                    <a:pt x="0" y="19626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2167854" cy="1934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1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3960000">
            <a:off x="1826390" y="1044543"/>
            <a:ext cx="8231071" cy="7452065"/>
            <a:chOff x="0" y="0"/>
            <a:chExt cx="2167854" cy="19626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7854" cy="1962684"/>
            </a:xfrm>
            <a:custGeom>
              <a:avLst/>
              <a:gdLst/>
              <a:ahLst/>
              <a:cxnLst/>
              <a:rect r="r" b="b" t="t" l="l"/>
              <a:pathLst>
                <a:path h="1962684" w="2167854">
                  <a:moveTo>
                    <a:pt x="0" y="0"/>
                  </a:moveTo>
                  <a:lnTo>
                    <a:pt x="2167854" y="0"/>
                  </a:lnTo>
                  <a:lnTo>
                    <a:pt x="2167854" y="1962684"/>
                  </a:lnTo>
                  <a:lnTo>
                    <a:pt x="0" y="196268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167854" cy="1934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1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050220" y="6428009"/>
            <a:ext cx="3926670" cy="3858991"/>
          </a:xfrm>
          <a:custGeom>
            <a:avLst/>
            <a:gdLst/>
            <a:ahLst/>
            <a:cxnLst/>
            <a:rect r="r" b="b" t="t" l="l"/>
            <a:pathLst>
              <a:path h="3858991" w="3926670">
                <a:moveTo>
                  <a:pt x="0" y="0"/>
                </a:moveTo>
                <a:lnTo>
                  <a:pt x="3926670" y="0"/>
                </a:lnTo>
                <a:lnTo>
                  <a:pt x="3926670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93952" y="0"/>
            <a:ext cx="3937608" cy="6646648"/>
          </a:xfrm>
          <a:custGeom>
            <a:avLst/>
            <a:gdLst/>
            <a:ahLst/>
            <a:cxnLst/>
            <a:rect r="r" b="b" t="t" l="l"/>
            <a:pathLst>
              <a:path h="6646648" w="3937608">
                <a:moveTo>
                  <a:pt x="0" y="0"/>
                </a:moveTo>
                <a:lnTo>
                  <a:pt x="3937608" y="0"/>
                </a:lnTo>
                <a:lnTo>
                  <a:pt x="3937608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4086" y="3421712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79298" y="1657163"/>
            <a:ext cx="5831911" cy="171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1"/>
              </a:lnSpc>
            </a:pPr>
            <a:r>
              <a:rPr lang="en-US" sz="12891" spc="-258">
                <a:solidFill>
                  <a:srgbClr val="073F6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ИСТОЧНИКИ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6786" y="4297712"/>
            <a:ext cx="7083108" cy="88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73F6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Wikipedia — статья «Атырау»</a:t>
            </a:r>
          </a:p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73F6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и климатические данные (NOAA, 1991–2020)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2500" y="5638127"/>
            <a:ext cx="7190623" cy="88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73F6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Открытые погодные справочники (hotels.com, worldweatheronline.com)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1307" y="7104358"/>
            <a:ext cx="7309910" cy="47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759">
                <a:solidFill>
                  <a:srgbClr val="073F6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Сайт акимата Атырауской области (gov.kz)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DAHYweXRJXg</dc:identifier>
  <dcterms:modified xsi:type="dcterms:W3CDTF">2011-08-01T06:04:30Z</dcterms:modified>
  <cp:revision>1</cp:revision>
  <dc:title>Атырау для туристов</dc:title>
</cp:coreProperties>
</file>